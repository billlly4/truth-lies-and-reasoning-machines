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FA36BA-8471-45C5-B786-D336E3B9400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F07FFC77-C87D-4E69-B209-ABE1783723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How do LLMs respond to misleading information?</a:t>
          </a:r>
          <a:endParaRPr lang="en-US"/>
        </a:p>
      </dgm:t>
    </dgm:pt>
    <dgm:pt modelId="{A67C325D-59E2-459C-B12F-82FE91F98D9E}" type="parTrans" cxnId="{728E40D3-A7F3-4872-8D86-E4A4F4736667}">
      <dgm:prSet/>
      <dgm:spPr/>
      <dgm:t>
        <a:bodyPr/>
        <a:lstStyle/>
        <a:p>
          <a:endParaRPr lang="en-US"/>
        </a:p>
      </dgm:t>
    </dgm:pt>
    <dgm:pt modelId="{B9FE434A-76B3-4DDF-8913-ECE98570815F}" type="sibTrans" cxnId="{728E40D3-A7F3-4872-8D86-E4A4F473666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C51371-1D89-4AC8-8311-4B2D646679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Does prompt framing affect accuracy?</a:t>
          </a:r>
          <a:endParaRPr lang="en-US"/>
        </a:p>
      </dgm:t>
    </dgm:pt>
    <dgm:pt modelId="{38AFF54B-3038-4D80-A32E-1A76D6B3017D}" type="parTrans" cxnId="{66709513-71CA-4D15-9596-BE01E671D282}">
      <dgm:prSet/>
      <dgm:spPr/>
      <dgm:t>
        <a:bodyPr/>
        <a:lstStyle/>
        <a:p>
          <a:endParaRPr lang="en-US"/>
        </a:p>
      </dgm:t>
    </dgm:pt>
    <dgm:pt modelId="{19F90DB4-CF98-416D-B913-ABEC015F0D10}" type="sibTrans" cxnId="{66709513-71CA-4D15-9596-BE01E671D2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91003E-B4CC-45DF-98E5-2D631111D5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Can self-verification improve reliability?</a:t>
          </a:r>
          <a:endParaRPr lang="en-US"/>
        </a:p>
      </dgm:t>
    </dgm:pt>
    <dgm:pt modelId="{5CA33917-1041-479D-B050-8896A33274FD}" type="parTrans" cxnId="{D278BD5E-CF2A-4BC0-821F-C1729A6CF2BE}">
      <dgm:prSet/>
      <dgm:spPr/>
      <dgm:t>
        <a:bodyPr/>
        <a:lstStyle/>
        <a:p>
          <a:endParaRPr lang="en-US"/>
        </a:p>
      </dgm:t>
    </dgm:pt>
    <dgm:pt modelId="{3A89605C-85AA-4BEC-A200-80C9D628399A}" type="sibTrans" cxnId="{D278BD5E-CF2A-4BC0-821F-C1729A6CF2BE}">
      <dgm:prSet/>
      <dgm:spPr/>
      <dgm:t>
        <a:bodyPr/>
        <a:lstStyle/>
        <a:p>
          <a:endParaRPr lang="en-US"/>
        </a:p>
      </dgm:t>
    </dgm:pt>
    <dgm:pt modelId="{D75A7F70-B3F1-47B3-BDDF-C3A08398B03A}" type="pres">
      <dgm:prSet presAssocID="{FAFA36BA-8471-45C5-B786-D336E3B94007}" presName="root" presStyleCnt="0">
        <dgm:presLayoutVars>
          <dgm:dir/>
          <dgm:resizeHandles val="exact"/>
        </dgm:presLayoutVars>
      </dgm:prSet>
      <dgm:spPr/>
    </dgm:pt>
    <dgm:pt modelId="{0E615633-4C8B-4F31-AF47-D15723004EF3}" type="pres">
      <dgm:prSet presAssocID="{FAFA36BA-8471-45C5-B786-D336E3B94007}" presName="container" presStyleCnt="0">
        <dgm:presLayoutVars>
          <dgm:dir/>
          <dgm:resizeHandles val="exact"/>
        </dgm:presLayoutVars>
      </dgm:prSet>
      <dgm:spPr/>
    </dgm:pt>
    <dgm:pt modelId="{C858911F-2DE8-4FC5-A453-A25FA66D05C0}" type="pres">
      <dgm:prSet presAssocID="{F07FFC77-C87D-4E69-B209-ABE1783723C8}" presName="compNode" presStyleCnt="0"/>
      <dgm:spPr/>
    </dgm:pt>
    <dgm:pt modelId="{FB5F963C-306C-4887-BF7A-2AC16C805D6A}" type="pres">
      <dgm:prSet presAssocID="{F07FFC77-C87D-4E69-B209-ABE1783723C8}" presName="iconBgRect" presStyleLbl="bgShp" presStyleIdx="0" presStyleCnt="3"/>
      <dgm:spPr/>
    </dgm:pt>
    <dgm:pt modelId="{5113B815-44CB-4544-B824-DAA5D732FC97}" type="pres">
      <dgm:prSet presAssocID="{F07FFC77-C87D-4E69-B209-ABE1783723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7DCA9534-71BA-4787-86E1-DDB9928B0E10}" type="pres">
      <dgm:prSet presAssocID="{F07FFC77-C87D-4E69-B209-ABE1783723C8}" presName="spaceRect" presStyleCnt="0"/>
      <dgm:spPr/>
    </dgm:pt>
    <dgm:pt modelId="{C4605DA8-5034-4008-8BD1-951B3B1EFD99}" type="pres">
      <dgm:prSet presAssocID="{F07FFC77-C87D-4E69-B209-ABE1783723C8}" presName="textRect" presStyleLbl="revTx" presStyleIdx="0" presStyleCnt="3">
        <dgm:presLayoutVars>
          <dgm:chMax val="1"/>
          <dgm:chPref val="1"/>
        </dgm:presLayoutVars>
      </dgm:prSet>
      <dgm:spPr/>
    </dgm:pt>
    <dgm:pt modelId="{24768F0F-C0F4-4BF3-9899-1F071C568B5E}" type="pres">
      <dgm:prSet presAssocID="{B9FE434A-76B3-4DDF-8913-ECE98570815F}" presName="sibTrans" presStyleLbl="sibTrans2D1" presStyleIdx="0" presStyleCnt="0"/>
      <dgm:spPr/>
    </dgm:pt>
    <dgm:pt modelId="{CD1C4463-CACC-4A88-A820-A174EDB32EA9}" type="pres">
      <dgm:prSet presAssocID="{4AC51371-1D89-4AC8-8311-4B2D6466799D}" presName="compNode" presStyleCnt="0"/>
      <dgm:spPr/>
    </dgm:pt>
    <dgm:pt modelId="{BF6D8721-A8E9-4F83-AA92-D6274D612DA7}" type="pres">
      <dgm:prSet presAssocID="{4AC51371-1D89-4AC8-8311-4B2D6466799D}" presName="iconBgRect" presStyleLbl="bgShp" presStyleIdx="1" presStyleCnt="3"/>
      <dgm:spPr/>
    </dgm:pt>
    <dgm:pt modelId="{16B1EC13-6B36-41B0-B8BC-2E20A4649072}" type="pres">
      <dgm:prSet presAssocID="{4AC51371-1D89-4AC8-8311-4B2D646679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2C7BD7F-74E0-4089-9E3B-9F1E27B15BDF}" type="pres">
      <dgm:prSet presAssocID="{4AC51371-1D89-4AC8-8311-4B2D6466799D}" presName="spaceRect" presStyleCnt="0"/>
      <dgm:spPr/>
    </dgm:pt>
    <dgm:pt modelId="{E8E7B848-B16A-48BD-805D-401E80742935}" type="pres">
      <dgm:prSet presAssocID="{4AC51371-1D89-4AC8-8311-4B2D6466799D}" presName="textRect" presStyleLbl="revTx" presStyleIdx="1" presStyleCnt="3">
        <dgm:presLayoutVars>
          <dgm:chMax val="1"/>
          <dgm:chPref val="1"/>
        </dgm:presLayoutVars>
      </dgm:prSet>
      <dgm:spPr/>
    </dgm:pt>
    <dgm:pt modelId="{BBA95E63-2654-4093-AC8C-60A35FA9FD10}" type="pres">
      <dgm:prSet presAssocID="{19F90DB4-CF98-416D-B913-ABEC015F0D10}" presName="sibTrans" presStyleLbl="sibTrans2D1" presStyleIdx="0" presStyleCnt="0"/>
      <dgm:spPr/>
    </dgm:pt>
    <dgm:pt modelId="{EF35C3FC-AEF8-4D70-88D5-3EFC05F0BD76}" type="pres">
      <dgm:prSet presAssocID="{C691003E-B4CC-45DF-98E5-2D631111D5B9}" presName="compNode" presStyleCnt="0"/>
      <dgm:spPr/>
    </dgm:pt>
    <dgm:pt modelId="{68B65B19-5E23-4B15-B221-F29934F9A3A5}" type="pres">
      <dgm:prSet presAssocID="{C691003E-B4CC-45DF-98E5-2D631111D5B9}" presName="iconBgRect" presStyleLbl="bgShp" presStyleIdx="2" presStyleCnt="3"/>
      <dgm:spPr/>
    </dgm:pt>
    <dgm:pt modelId="{82633A9A-D564-4DD1-9257-FF2B0F1DDB3B}" type="pres">
      <dgm:prSet presAssocID="{C691003E-B4CC-45DF-98E5-2D631111D5B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D3CE93B7-4F68-499D-9493-16A2AB336D8F}" type="pres">
      <dgm:prSet presAssocID="{C691003E-B4CC-45DF-98E5-2D631111D5B9}" presName="spaceRect" presStyleCnt="0"/>
      <dgm:spPr/>
    </dgm:pt>
    <dgm:pt modelId="{5F79237D-02F1-4F68-9F86-7149E40FF2EA}" type="pres">
      <dgm:prSet presAssocID="{C691003E-B4CC-45DF-98E5-2D631111D5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2A30812-51F0-4B80-B6E4-4A0C839F964B}" type="presOf" srcId="{19F90DB4-CF98-416D-B913-ABEC015F0D10}" destId="{BBA95E63-2654-4093-AC8C-60A35FA9FD10}" srcOrd="0" destOrd="0" presId="urn:microsoft.com/office/officeart/2018/2/layout/IconCircleList"/>
    <dgm:cxn modelId="{66709513-71CA-4D15-9596-BE01E671D282}" srcId="{FAFA36BA-8471-45C5-B786-D336E3B94007}" destId="{4AC51371-1D89-4AC8-8311-4B2D6466799D}" srcOrd="1" destOrd="0" parTransId="{38AFF54B-3038-4D80-A32E-1A76D6B3017D}" sibTransId="{19F90DB4-CF98-416D-B913-ABEC015F0D10}"/>
    <dgm:cxn modelId="{EA38E91A-D9FA-4AAA-90EE-924380E67B4A}" type="presOf" srcId="{FAFA36BA-8471-45C5-B786-D336E3B94007}" destId="{D75A7F70-B3F1-47B3-BDDF-C3A08398B03A}" srcOrd="0" destOrd="0" presId="urn:microsoft.com/office/officeart/2018/2/layout/IconCircleList"/>
    <dgm:cxn modelId="{D278BD5E-CF2A-4BC0-821F-C1729A6CF2BE}" srcId="{FAFA36BA-8471-45C5-B786-D336E3B94007}" destId="{C691003E-B4CC-45DF-98E5-2D631111D5B9}" srcOrd="2" destOrd="0" parTransId="{5CA33917-1041-479D-B050-8896A33274FD}" sibTransId="{3A89605C-85AA-4BEC-A200-80C9D628399A}"/>
    <dgm:cxn modelId="{5DF31164-FA05-483A-B25F-1085AC36BBB1}" type="presOf" srcId="{C691003E-B4CC-45DF-98E5-2D631111D5B9}" destId="{5F79237D-02F1-4F68-9F86-7149E40FF2EA}" srcOrd="0" destOrd="0" presId="urn:microsoft.com/office/officeart/2018/2/layout/IconCircleList"/>
    <dgm:cxn modelId="{65538CB4-7A78-429B-8636-81C4B7EEDCD9}" type="presOf" srcId="{B9FE434A-76B3-4DDF-8913-ECE98570815F}" destId="{24768F0F-C0F4-4BF3-9899-1F071C568B5E}" srcOrd="0" destOrd="0" presId="urn:microsoft.com/office/officeart/2018/2/layout/IconCircleList"/>
    <dgm:cxn modelId="{67BF09D0-0769-4072-9953-FF7D3217D599}" type="presOf" srcId="{4AC51371-1D89-4AC8-8311-4B2D6466799D}" destId="{E8E7B848-B16A-48BD-805D-401E80742935}" srcOrd="0" destOrd="0" presId="urn:microsoft.com/office/officeart/2018/2/layout/IconCircleList"/>
    <dgm:cxn modelId="{728E40D3-A7F3-4872-8D86-E4A4F4736667}" srcId="{FAFA36BA-8471-45C5-B786-D336E3B94007}" destId="{F07FFC77-C87D-4E69-B209-ABE1783723C8}" srcOrd="0" destOrd="0" parTransId="{A67C325D-59E2-459C-B12F-82FE91F98D9E}" sibTransId="{B9FE434A-76B3-4DDF-8913-ECE98570815F}"/>
    <dgm:cxn modelId="{77A626F7-F94B-4431-B5EC-09AE2FA404B7}" type="presOf" srcId="{F07FFC77-C87D-4E69-B209-ABE1783723C8}" destId="{C4605DA8-5034-4008-8BD1-951B3B1EFD99}" srcOrd="0" destOrd="0" presId="urn:microsoft.com/office/officeart/2018/2/layout/IconCircleList"/>
    <dgm:cxn modelId="{9EC8257E-258D-4E6B-99FF-21FF0192E689}" type="presParOf" srcId="{D75A7F70-B3F1-47B3-BDDF-C3A08398B03A}" destId="{0E615633-4C8B-4F31-AF47-D15723004EF3}" srcOrd="0" destOrd="0" presId="urn:microsoft.com/office/officeart/2018/2/layout/IconCircleList"/>
    <dgm:cxn modelId="{30B95AE0-4DB9-4811-AC35-34E92D1210EF}" type="presParOf" srcId="{0E615633-4C8B-4F31-AF47-D15723004EF3}" destId="{C858911F-2DE8-4FC5-A453-A25FA66D05C0}" srcOrd="0" destOrd="0" presId="urn:microsoft.com/office/officeart/2018/2/layout/IconCircleList"/>
    <dgm:cxn modelId="{BFC998F2-FD22-4416-88DA-BD4B3A274159}" type="presParOf" srcId="{C858911F-2DE8-4FC5-A453-A25FA66D05C0}" destId="{FB5F963C-306C-4887-BF7A-2AC16C805D6A}" srcOrd="0" destOrd="0" presId="urn:microsoft.com/office/officeart/2018/2/layout/IconCircleList"/>
    <dgm:cxn modelId="{95280FCA-816F-42DF-ABC3-C362BF8CEBFB}" type="presParOf" srcId="{C858911F-2DE8-4FC5-A453-A25FA66D05C0}" destId="{5113B815-44CB-4544-B824-DAA5D732FC97}" srcOrd="1" destOrd="0" presId="urn:microsoft.com/office/officeart/2018/2/layout/IconCircleList"/>
    <dgm:cxn modelId="{9B7B8090-DEDA-4017-90FE-A6C7F0827D36}" type="presParOf" srcId="{C858911F-2DE8-4FC5-A453-A25FA66D05C0}" destId="{7DCA9534-71BA-4787-86E1-DDB9928B0E10}" srcOrd="2" destOrd="0" presId="urn:microsoft.com/office/officeart/2018/2/layout/IconCircleList"/>
    <dgm:cxn modelId="{F0A30559-07DA-4584-B3FD-F3F45DE40D8A}" type="presParOf" srcId="{C858911F-2DE8-4FC5-A453-A25FA66D05C0}" destId="{C4605DA8-5034-4008-8BD1-951B3B1EFD99}" srcOrd="3" destOrd="0" presId="urn:microsoft.com/office/officeart/2018/2/layout/IconCircleList"/>
    <dgm:cxn modelId="{5FE90C65-8823-4FC7-9679-EFD677E50698}" type="presParOf" srcId="{0E615633-4C8B-4F31-AF47-D15723004EF3}" destId="{24768F0F-C0F4-4BF3-9899-1F071C568B5E}" srcOrd="1" destOrd="0" presId="urn:microsoft.com/office/officeart/2018/2/layout/IconCircleList"/>
    <dgm:cxn modelId="{79467134-4D4A-4E76-BCFB-6056EE6CA276}" type="presParOf" srcId="{0E615633-4C8B-4F31-AF47-D15723004EF3}" destId="{CD1C4463-CACC-4A88-A820-A174EDB32EA9}" srcOrd="2" destOrd="0" presId="urn:microsoft.com/office/officeart/2018/2/layout/IconCircleList"/>
    <dgm:cxn modelId="{B020C51C-9534-4B74-A82E-CA3A2AB364A9}" type="presParOf" srcId="{CD1C4463-CACC-4A88-A820-A174EDB32EA9}" destId="{BF6D8721-A8E9-4F83-AA92-D6274D612DA7}" srcOrd="0" destOrd="0" presId="urn:microsoft.com/office/officeart/2018/2/layout/IconCircleList"/>
    <dgm:cxn modelId="{2776DA8D-63EC-4C9A-8384-6BED51106574}" type="presParOf" srcId="{CD1C4463-CACC-4A88-A820-A174EDB32EA9}" destId="{16B1EC13-6B36-41B0-B8BC-2E20A4649072}" srcOrd="1" destOrd="0" presId="urn:microsoft.com/office/officeart/2018/2/layout/IconCircleList"/>
    <dgm:cxn modelId="{6B4E0619-5D2B-4D42-940A-EA18DE135C06}" type="presParOf" srcId="{CD1C4463-CACC-4A88-A820-A174EDB32EA9}" destId="{22C7BD7F-74E0-4089-9E3B-9F1E27B15BDF}" srcOrd="2" destOrd="0" presId="urn:microsoft.com/office/officeart/2018/2/layout/IconCircleList"/>
    <dgm:cxn modelId="{557CAB44-0A2D-4225-A991-310102E32860}" type="presParOf" srcId="{CD1C4463-CACC-4A88-A820-A174EDB32EA9}" destId="{E8E7B848-B16A-48BD-805D-401E80742935}" srcOrd="3" destOrd="0" presId="urn:microsoft.com/office/officeart/2018/2/layout/IconCircleList"/>
    <dgm:cxn modelId="{9DD42845-0587-4BB6-B949-618F7589808D}" type="presParOf" srcId="{0E615633-4C8B-4F31-AF47-D15723004EF3}" destId="{BBA95E63-2654-4093-AC8C-60A35FA9FD10}" srcOrd="3" destOrd="0" presId="urn:microsoft.com/office/officeart/2018/2/layout/IconCircleList"/>
    <dgm:cxn modelId="{CD402676-E648-4270-A171-703E24137004}" type="presParOf" srcId="{0E615633-4C8B-4F31-AF47-D15723004EF3}" destId="{EF35C3FC-AEF8-4D70-88D5-3EFC05F0BD76}" srcOrd="4" destOrd="0" presId="urn:microsoft.com/office/officeart/2018/2/layout/IconCircleList"/>
    <dgm:cxn modelId="{A085B916-1207-4D90-A701-14816F7786FD}" type="presParOf" srcId="{EF35C3FC-AEF8-4D70-88D5-3EFC05F0BD76}" destId="{68B65B19-5E23-4B15-B221-F29934F9A3A5}" srcOrd="0" destOrd="0" presId="urn:microsoft.com/office/officeart/2018/2/layout/IconCircleList"/>
    <dgm:cxn modelId="{0F044403-97F4-456F-B65E-FA6E16B68A00}" type="presParOf" srcId="{EF35C3FC-AEF8-4D70-88D5-3EFC05F0BD76}" destId="{82633A9A-D564-4DD1-9257-FF2B0F1DDB3B}" srcOrd="1" destOrd="0" presId="urn:microsoft.com/office/officeart/2018/2/layout/IconCircleList"/>
    <dgm:cxn modelId="{30BDE4E1-4555-4BFB-9D97-9F9271EE1D82}" type="presParOf" srcId="{EF35C3FC-AEF8-4D70-88D5-3EFC05F0BD76}" destId="{D3CE93B7-4F68-499D-9493-16A2AB336D8F}" srcOrd="2" destOrd="0" presId="urn:microsoft.com/office/officeart/2018/2/layout/IconCircleList"/>
    <dgm:cxn modelId="{A420A4DD-6E0F-4CA4-8DF7-43F562208A8C}" type="presParOf" srcId="{EF35C3FC-AEF8-4D70-88D5-3EFC05F0BD76}" destId="{5F79237D-02F1-4F68-9F86-7149E40FF2E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CA023D-BD65-4F19-AD8D-7F478354A5B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4F4AC6-322F-42BB-8EA9-8F98BC261DB1}">
      <dgm:prSet/>
      <dgm:spPr/>
      <dgm:t>
        <a:bodyPr/>
        <a:lstStyle/>
        <a:p>
          <a:r>
            <a:rPr lang="en-US"/>
            <a:t>Question only</a:t>
          </a:r>
        </a:p>
      </dgm:t>
    </dgm:pt>
    <dgm:pt modelId="{D99DA7DD-1C14-4815-806F-5D344F61396A}" type="parTrans" cxnId="{6A5A026A-4B46-40A8-ABA1-EBF1257E22FC}">
      <dgm:prSet/>
      <dgm:spPr/>
      <dgm:t>
        <a:bodyPr/>
        <a:lstStyle/>
        <a:p>
          <a:endParaRPr lang="en-US"/>
        </a:p>
      </dgm:t>
    </dgm:pt>
    <dgm:pt modelId="{C06E7294-B23A-4E68-927D-53048959C4F3}" type="sibTrans" cxnId="{6A5A026A-4B46-40A8-ABA1-EBF1257E22FC}">
      <dgm:prSet/>
      <dgm:spPr/>
      <dgm:t>
        <a:bodyPr/>
        <a:lstStyle/>
        <a:p>
          <a:endParaRPr lang="en-US"/>
        </a:p>
      </dgm:t>
    </dgm:pt>
    <dgm:pt modelId="{5F79C588-07FD-4669-83FA-E3B1B483AD92}">
      <dgm:prSet/>
      <dgm:spPr/>
      <dgm:t>
        <a:bodyPr/>
        <a:lstStyle/>
        <a:p>
          <a:r>
            <a:rPr lang="en-US"/>
            <a:t>Incorrect claim marked as unreliable</a:t>
          </a:r>
        </a:p>
      </dgm:t>
    </dgm:pt>
    <dgm:pt modelId="{7733FC65-9610-4576-B518-915FE7A8B6F8}" type="parTrans" cxnId="{F6380D46-162C-4C27-A35A-5002C675FD0C}">
      <dgm:prSet/>
      <dgm:spPr/>
      <dgm:t>
        <a:bodyPr/>
        <a:lstStyle/>
        <a:p>
          <a:endParaRPr lang="en-US"/>
        </a:p>
      </dgm:t>
    </dgm:pt>
    <dgm:pt modelId="{E196087A-43EC-4584-8739-2002688826D1}" type="sibTrans" cxnId="{F6380D46-162C-4C27-A35A-5002C675FD0C}">
      <dgm:prSet/>
      <dgm:spPr/>
      <dgm:t>
        <a:bodyPr/>
        <a:lstStyle/>
        <a:p>
          <a:endParaRPr lang="en-US"/>
        </a:p>
      </dgm:t>
    </dgm:pt>
    <dgm:pt modelId="{19FD1197-E313-49B2-B8A6-B70CAF18C2C5}">
      <dgm:prSet/>
      <dgm:spPr/>
      <dgm:t>
        <a:bodyPr/>
        <a:lstStyle/>
        <a:p>
          <a:r>
            <a:rPr lang="en-US"/>
            <a:t>Incorrect claim framed as authoritative</a:t>
          </a:r>
        </a:p>
      </dgm:t>
    </dgm:pt>
    <dgm:pt modelId="{70D442DB-C863-4A4A-90EA-77E539777EBC}" type="parTrans" cxnId="{81EF0A8E-C530-4400-BB23-626CA8E81E23}">
      <dgm:prSet/>
      <dgm:spPr/>
      <dgm:t>
        <a:bodyPr/>
        <a:lstStyle/>
        <a:p>
          <a:endParaRPr lang="en-US"/>
        </a:p>
      </dgm:t>
    </dgm:pt>
    <dgm:pt modelId="{2F12F405-A623-4715-B853-501331722782}" type="sibTrans" cxnId="{81EF0A8E-C530-4400-BB23-626CA8E81E23}">
      <dgm:prSet/>
      <dgm:spPr/>
      <dgm:t>
        <a:bodyPr/>
        <a:lstStyle/>
        <a:p>
          <a:endParaRPr lang="en-US"/>
        </a:p>
      </dgm:t>
    </dgm:pt>
    <dgm:pt modelId="{2FB9ACF3-03A0-4AD4-A961-4A5AAF8EA884}" type="pres">
      <dgm:prSet presAssocID="{10CA023D-BD65-4F19-AD8D-7F478354A5B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E0B146-EF30-42AB-824A-6ABAEAEA9206}" type="pres">
      <dgm:prSet presAssocID="{0D4F4AC6-322F-42BB-8EA9-8F98BC261DB1}" presName="hierRoot1" presStyleCnt="0"/>
      <dgm:spPr/>
    </dgm:pt>
    <dgm:pt modelId="{62723903-C1E2-411D-BF27-1721CE15C772}" type="pres">
      <dgm:prSet presAssocID="{0D4F4AC6-322F-42BB-8EA9-8F98BC261DB1}" presName="composite" presStyleCnt="0"/>
      <dgm:spPr/>
    </dgm:pt>
    <dgm:pt modelId="{C961C8E2-960D-4044-B164-E29DF6DF86FC}" type="pres">
      <dgm:prSet presAssocID="{0D4F4AC6-322F-42BB-8EA9-8F98BC261DB1}" presName="background" presStyleLbl="node0" presStyleIdx="0" presStyleCnt="3"/>
      <dgm:spPr/>
    </dgm:pt>
    <dgm:pt modelId="{836FEBB9-B1B4-4868-A61D-908736488CB5}" type="pres">
      <dgm:prSet presAssocID="{0D4F4AC6-322F-42BB-8EA9-8F98BC261DB1}" presName="text" presStyleLbl="fgAcc0" presStyleIdx="0" presStyleCnt="3">
        <dgm:presLayoutVars>
          <dgm:chPref val="3"/>
        </dgm:presLayoutVars>
      </dgm:prSet>
      <dgm:spPr/>
    </dgm:pt>
    <dgm:pt modelId="{78D046C1-8D3B-4C3A-80A3-AEF795E359C5}" type="pres">
      <dgm:prSet presAssocID="{0D4F4AC6-322F-42BB-8EA9-8F98BC261DB1}" presName="hierChild2" presStyleCnt="0"/>
      <dgm:spPr/>
    </dgm:pt>
    <dgm:pt modelId="{7551F974-180E-44C2-B39A-1B6027B5BAE0}" type="pres">
      <dgm:prSet presAssocID="{5F79C588-07FD-4669-83FA-E3B1B483AD92}" presName="hierRoot1" presStyleCnt="0"/>
      <dgm:spPr/>
    </dgm:pt>
    <dgm:pt modelId="{D0F71DC7-0F34-46B6-83D2-D44243ED2ADF}" type="pres">
      <dgm:prSet presAssocID="{5F79C588-07FD-4669-83FA-E3B1B483AD92}" presName="composite" presStyleCnt="0"/>
      <dgm:spPr/>
    </dgm:pt>
    <dgm:pt modelId="{0794361D-8F01-4E80-A350-A7A814C38E2A}" type="pres">
      <dgm:prSet presAssocID="{5F79C588-07FD-4669-83FA-E3B1B483AD92}" presName="background" presStyleLbl="node0" presStyleIdx="1" presStyleCnt="3"/>
      <dgm:spPr/>
    </dgm:pt>
    <dgm:pt modelId="{CC367492-78F6-4765-A00D-485C629468F2}" type="pres">
      <dgm:prSet presAssocID="{5F79C588-07FD-4669-83FA-E3B1B483AD92}" presName="text" presStyleLbl="fgAcc0" presStyleIdx="1" presStyleCnt="3">
        <dgm:presLayoutVars>
          <dgm:chPref val="3"/>
        </dgm:presLayoutVars>
      </dgm:prSet>
      <dgm:spPr/>
    </dgm:pt>
    <dgm:pt modelId="{E9188C8A-C4D2-4114-8C4F-8C640E535A73}" type="pres">
      <dgm:prSet presAssocID="{5F79C588-07FD-4669-83FA-E3B1B483AD92}" presName="hierChild2" presStyleCnt="0"/>
      <dgm:spPr/>
    </dgm:pt>
    <dgm:pt modelId="{14BE3B8F-A8EB-4ECF-8FE6-BD66080D9828}" type="pres">
      <dgm:prSet presAssocID="{19FD1197-E313-49B2-B8A6-B70CAF18C2C5}" presName="hierRoot1" presStyleCnt="0"/>
      <dgm:spPr/>
    </dgm:pt>
    <dgm:pt modelId="{6D59E3B8-3E3F-42E3-8852-7CE8E2008415}" type="pres">
      <dgm:prSet presAssocID="{19FD1197-E313-49B2-B8A6-B70CAF18C2C5}" presName="composite" presStyleCnt="0"/>
      <dgm:spPr/>
    </dgm:pt>
    <dgm:pt modelId="{19873B6F-EE46-4B21-A722-3DEAF3BB47F3}" type="pres">
      <dgm:prSet presAssocID="{19FD1197-E313-49B2-B8A6-B70CAF18C2C5}" presName="background" presStyleLbl="node0" presStyleIdx="2" presStyleCnt="3"/>
      <dgm:spPr/>
    </dgm:pt>
    <dgm:pt modelId="{03589E2D-7D19-4AC7-B11E-ACB1D57DB883}" type="pres">
      <dgm:prSet presAssocID="{19FD1197-E313-49B2-B8A6-B70CAF18C2C5}" presName="text" presStyleLbl="fgAcc0" presStyleIdx="2" presStyleCnt="3">
        <dgm:presLayoutVars>
          <dgm:chPref val="3"/>
        </dgm:presLayoutVars>
      </dgm:prSet>
      <dgm:spPr/>
    </dgm:pt>
    <dgm:pt modelId="{22DEFD01-9C3C-4F59-8F30-ACBD361A080A}" type="pres">
      <dgm:prSet presAssocID="{19FD1197-E313-49B2-B8A6-B70CAF18C2C5}" presName="hierChild2" presStyleCnt="0"/>
      <dgm:spPr/>
    </dgm:pt>
  </dgm:ptLst>
  <dgm:cxnLst>
    <dgm:cxn modelId="{F6380D46-162C-4C27-A35A-5002C675FD0C}" srcId="{10CA023D-BD65-4F19-AD8D-7F478354A5B7}" destId="{5F79C588-07FD-4669-83FA-E3B1B483AD92}" srcOrd="1" destOrd="0" parTransId="{7733FC65-9610-4576-B518-915FE7A8B6F8}" sibTransId="{E196087A-43EC-4584-8739-2002688826D1}"/>
    <dgm:cxn modelId="{6A5A026A-4B46-40A8-ABA1-EBF1257E22FC}" srcId="{10CA023D-BD65-4F19-AD8D-7F478354A5B7}" destId="{0D4F4AC6-322F-42BB-8EA9-8F98BC261DB1}" srcOrd="0" destOrd="0" parTransId="{D99DA7DD-1C14-4815-806F-5D344F61396A}" sibTransId="{C06E7294-B23A-4E68-927D-53048959C4F3}"/>
    <dgm:cxn modelId="{81EF0A8E-C530-4400-BB23-626CA8E81E23}" srcId="{10CA023D-BD65-4F19-AD8D-7F478354A5B7}" destId="{19FD1197-E313-49B2-B8A6-B70CAF18C2C5}" srcOrd="2" destOrd="0" parTransId="{70D442DB-C863-4A4A-90EA-77E539777EBC}" sibTransId="{2F12F405-A623-4715-B853-501331722782}"/>
    <dgm:cxn modelId="{63A004AB-9AEC-4A06-B273-A626A324FEF8}" type="presOf" srcId="{10CA023D-BD65-4F19-AD8D-7F478354A5B7}" destId="{2FB9ACF3-03A0-4AD4-A961-4A5AAF8EA884}" srcOrd="0" destOrd="0" presId="urn:microsoft.com/office/officeart/2005/8/layout/hierarchy1"/>
    <dgm:cxn modelId="{3D1978D3-3E09-488B-816A-C6E019253A63}" type="presOf" srcId="{0D4F4AC6-322F-42BB-8EA9-8F98BC261DB1}" destId="{836FEBB9-B1B4-4868-A61D-908736488CB5}" srcOrd="0" destOrd="0" presId="urn:microsoft.com/office/officeart/2005/8/layout/hierarchy1"/>
    <dgm:cxn modelId="{E3C65DD7-2B3D-4EBD-A1A7-9EB7CEDF4B55}" type="presOf" srcId="{5F79C588-07FD-4669-83FA-E3B1B483AD92}" destId="{CC367492-78F6-4765-A00D-485C629468F2}" srcOrd="0" destOrd="0" presId="urn:microsoft.com/office/officeart/2005/8/layout/hierarchy1"/>
    <dgm:cxn modelId="{DD7913DE-EB00-488C-B22D-03017A122050}" type="presOf" srcId="{19FD1197-E313-49B2-B8A6-B70CAF18C2C5}" destId="{03589E2D-7D19-4AC7-B11E-ACB1D57DB883}" srcOrd="0" destOrd="0" presId="urn:microsoft.com/office/officeart/2005/8/layout/hierarchy1"/>
    <dgm:cxn modelId="{67CFCC30-4BBB-4128-9F67-CD09C50CC837}" type="presParOf" srcId="{2FB9ACF3-03A0-4AD4-A961-4A5AAF8EA884}" destId="{63E0B146-EF30-42AB-824A-6ABAEAEA9206}" srcOrd="0" destOrd="0" presId="urn:microsoft.com/office/officeart/2005/8/layout/hierarchy1"/>
    <dgm:cxn modelId="{835F1AA9-2819-43CF-908B-E897C6C94606}" type="presParOf" srcId="{63E0B146-EF30-42AB-824A-6ABAEAEA9206}" destId="{62723903-C1E2-411D-BF27-1721CE15C772}" srcOrd="0" destOrd="0" presId="urn:microsoft.com/office/officeart/2005/8/layout/hierarchy1"/>
    <dgm:cxn modelId="{C533C1DB-3FF5-4164-BBE4-17BC8EEB843A}" type="presParOf" srcId="{62723903-C1E2-411D-BF27-1721CE15C772}" destId="{C961C8E2-960D-4044-B164-E29DF6DF86FC}" srcOrd="0" destOrd="0" presId="urn:microsoft.com/office/officeart/2005/8/layout/hierarchy1"/>
    <dgm:cxn modelId="{6D4704AE-B8A5-4B9D-A3C9-F947ECCCDAC5}" type="presParOf" srcId="{62723903-C1E2-411D-BF27-1721CE15C772}" destId="{836FEBB9-B1B4-4868-A61D-908736488CB5}" srcOrd="1" destOrd="0" presId="urn:microsoft.com/office/officeart/2005/8/layout/hierarchy1"/>
    <dgm:cxn modelId="{DBD256C7-7CB5-453F-958E-A1357A6B2137}" type="presParOf" srcId="{63E0B146-EF30-42AB-824A-6ABAEAEA9206}" destId="{78D046C1-8D3B-4C3A-80A3-AEF795E359C5}" srcOrd="1" destOrd="0" presId="urn:microsoft.com/office/officeart/2005/8/layout/hierarchy1"/>
    <dgm:cxn modelId="{154CB33C-676F-44B1-9F6C-CAC0888E3241}" type="presParOf" srcId="{2FB9ACF3-03A0-4AD4-A961-4A5AAF8EA884}" destId="{7551F974-180E-44C2-B39A-1B6027B5BAE0}" srcOrd="1" destOrd="0" presId="urn:microsoft.com/office/officeart/2005/8/layout/hierarchy1"/>
    <dgm:cxn modelId="{FAC0E20E-CCF2-4627-94FE-C78487AFC18D}" type="presParOf" srcId="{7551F974-180E-44C2-B39A-1B6027B5BAE0}" destId="{D0F71DC7-0F34-46B6-83D2-D44243ED2ADF}" srcOrd="0" destOrd="0" presId="urn:microsoft.com/office/officeart/2005/8/layout/hierarchy1"/>
    <dgm:cxn modelId="{92E94B38-E2A0-4E85-9350-DBB7B6E6C02B}" type="presParOf" srcId="{D0F71DC7-0F34-46B6-83D2-D44243ED2ADF}" destId="{0794361D-8F01-4E80-A350-A7A814C38E2A}" srcOrd="0" destOrd="0" presId="urn:microsoft.com/office/officeart/2005/8/layout/hierarchy1"/>
    <dgm:cxn modelId="{FFFC82D7-C668-43A6-A3E1-2488859CEF7C}" type="presParOf" srcId="{D0F71DC7-0F34-46B6-83D2-D44243ED2ADF}" destId="{CC367492-78F6-4765-A00D-485C629468F2}" srcOrd="1" destOrd="0" presId="urn:microsoft.com/office/officeart/2005/8/layout/hierarchy1"/>
    <dgm:cxn modelId="{049C49C2-BB44-402E-960D-FA0295A0DA06}" type="presParOf" srcId="{7551F974-180E-44C2-B39A-1B6027B5BAE0}" destId="{E9188C8A-C4D2-4114-8C4F-8C640E535A73}" srcOrd="1" destOrd="0" presId="urn:microsoft.com/office/officeart/2005/8/layout/hierarchy1"/>
    <dgm:cxn modelId="{A9552BA9-6CCB-47CF-BC9C-199E25871914}" type="presParOf" srcId="{2FB9ACF3-03A0-4AD4-A961-4A5AAF8EA884}" destId="{14BE3B8F-A8EB-4ECF-8FE6-BD66080D9828}" srcOrd="2" destOrd="0" presId="urn:microsoft.com/office/officeart/2005/8/layout/hierarchy1"/>
    <dgm:cxn modelId="{A9600B40-6A0A-40C8-9BE3-BFD2F568AADA}" type="presParOf" srcId="{14BE3B8F-A8EB-4ECF-8FE6-BD66080D9828}" destId="{6D59E3B8-3E3F-42E3-8852-7CE8E2008415}" srcOrd="0" destOrd="0" presId="urn:microsoft.com/office/officeart/2005/8/layout/hierarchy1"/>
    <dgm:cxn modelId="{3CAD056F-0BE2-453C-B650-685BDC38719F}" type="presParOf" srcId="{6D59E3B8-3E3F-42E3-8852-7CE8E2008415}" destId="{19873B6F-EE46-4B21-A722-3DEAF3BB47F3}" srcOrd="0" destOrd="0" presId="urn:microsoft.com/office/officeart/2005/8/layout/hierarchy1"/>
    <dgm:cxn modelId="{FDD0874F-00E9-420D-BDF5-1E58977C4CED}" type="presParOf" srcId="{6D59E3B8-3E3F-42E3-8852-7CE8E2008415}" destId="{03589E2D-7D19-4AC7-B11E-ACB1D57DB883}" srcOrd="1" destOrd="0" presId="urn:microsoft.com/office/officeart/2005/8/layout/hierarchy1"/>
    <dgm:cxn modelId="{52E40D55-9AEC-4161-A298-31A8AA33648D}" type="presParOf" srcId="{14BE3B8F-A8EB-4ECF-8FE6-BD66080D9828}" destId="{22DEFD01-9C3C-4F59-8F30-ACBD361A08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5F963C-306C-4887-BF7A-2AC16C805D6A}">
      <dsp:nvSpPr>
        <dsp:cNvPr id="0" name=""/>
        <dsp:cNvSpPr/>
      </dsp:nvSpPr>
      <dsp:spPr>
        <a:xfrm>
          <a:off x="195832" y="1246869"/>
          <a:ext cx="910537" cy="910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3B815-44CB-4544-B824-DAA5D732FC97}">
      <dsp:nvSpPr>
        <dsp:cNvPr id="0" name=""/>
        <dsp:cNvSpPr/>
      </dsp:nvSpPr>
      <dsp:spPr>
        <a:xfrm>
          <a:off x="387045" y="1438082"/>
          <a:ext cx="528112" cy="5281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5DA8-5034-4008-8BD1-951B3B1EFD99}">
      <dsp:nvSpPr>
        <dsp:cNvPr id="0" name=""/>
        <dsp:cNvSpPr/>
      </dsp:nvSpPr>
      <dsp:spPr>
        <a:xfrm>
          <a:off x="1301485" y="1246869"/>
          <a:ext cx="2146268" cy="9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How do LLMs respond to misleading information?</a:t>
          </a:r>
          <a:endParaRPr lang="en-US" sz="1600" kern="1200"/>
        </a:p>
      </dsp:txBody>
      <dsp:txXfrm>
        <a:off x="1301485" y="1246869"/>
        <a:ext cx="2146268" cy="910537"/>
      </dsp:txXfrm>
    </dsp:sp>
    <dsp:sp modelId="{BF6D8721-A8E9-4F83-AA92-D6274D612DA7}">
      <dsp:nvSpPr>
        <dsp:cNvPr id="0" name=""/>
        <dsp:cNvSpPr/>
      </dsp:nvSpPr>
      <dsp:spPr>
        <a:xfrm>
          <a:off x="3821724" y="1246869"/>
          <a:ext cx="910537" cy="910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B1EC13-6B36-41B0-B8BC-2E20A4649072}">
      <dsp:nvSpPr>
        <dsp:cNvPr id="0" name=""/>
        <dsp:cNvSpPr/>
      </dsp:nvSpPr>
      <dsp:spPr>
        <a:xfrm>
          <a:off x="4012937" y="1438082"/>
          <a:ext cx="528112" cy="5281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7B848-B16A-48BD-805D-401E80742935}">
      <dsp:nvSpPr>
        <dsp:cNvPr id="0" name=""/>
        <dsp:cNvSpPr/>
      </dsp:nvSpPr>
      <dsp:spPr>
        <a:xfrm>
          <a:off x="4927377" y="1246869"/>
          <a:ext cx="2146268" cy="9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Does prompt framing affect accuracy?</a:t>
          </a:r>
          <a:endParaRPr lang="en-US" sz="1600" kern="1200"/>
        </a:p>
      </dsp:txBody>
      <dsp:txXfrm>
        <a:off x="4927377" y="1246869"/>
        <a:ext cx="2146268" cy="910537"/>
      </dsp:txXfrm>
    </dsp:sp>
    <dsp:sp modelId="{68B65B19-5E23-4B15-B221-F29934F9A3A5}">
      <dsp:nvSpPr>
        <dsp:cNvPr id="0" name=""/>
        <dsp:cNvSpPr/>
      </dsp:nvSpPr>
      <dsp:spPr>
        <a:xfrm>
          <a:off x="7447616" y="1246869"/>
          <a:ext cx="910537" cy="91053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633A9A-D564-4DD1-9257-FF2B0F1DDB3B}">
      <dsp:nvSpPr>
        <dsp:cNvPr id="0" name=""/>
        <dsp:cNvSpPr/>
      </dsp:nvSpPr>
      <dsp:spPr>
        <a:xfrm>
          <a:off x="7638829" y="1438082"/>
          <a:ext cx="528112" cy="5281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9237D-02F1-4F68-9F86-7149E40FF2EA}">
      <dsp:nvSpPr>
        <dsp:cNvPr id="0" name=""/>
        <dsp:cNvSpPr/>
      </dsp:nvSpPr>
      <dsp:spPr>
        <a:xfrm>
          <a:off x="8553269" y="1246869"/>
          <a:ext cx="2146268" cy="9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Can self-verification improve reliability?</a:t>
          </a:r>
          <a:endParaRPr lang="en-US" sz="1600" kern="1200"/>
        </a:p>
      </dsp:txBody>
      <dsp:txXfrm>
        <a:off x="8553269" y="1246869"/>
        <a:ext cx="2146268" cy="9105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1C8E2-960D-4044-B164-E29DF6DF86FC}">
      <dsp:nvSpPr>
        <dsp:cNvPr id="0" name=""/>
        <dsp:cNvSpPr/>
      </dsp:nvSpPr>
      <dsp:spPr>
        <a:xfrm>
          <a:off x="0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FEBB9-B1B4-4868-A61D-908736488CB5}">
      <dsp:nvSpPr>
        <dsp:cNvPr id="0" name=""/>
        <dsp:cNvSpPr/>
      </dsp:nvSpPr>
      <dsp:spPr>
        <a:xfrm>
          <a:off x="279579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Question only</a:t>
          </a:r>
        </a:p>
      </dsp:txBody>
      <dsp:txXfrm>
        <a:off x="326377" y="1478440"/>
        <a:ext cx="2422618" cy="1504200"/>
      </dsp:txXfrm>
    </dsp:sp>
    <dsp:sp modelId="{0794361D-8F01-4E80-A350-A7A814C38E2A}">
      <dsp:nvSpPr>
        <dsp:cNvPr id="0" name=""/>
        <dsp:cNvSpPr/>
      </dsp:nvSpPr>
      <dsp:spPr>
        <a:xfrm>
          <a:off x="3075373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67492-78F6-4765-A00D-485C629468F2}">
      <dsp:nvSpPr>
        <dsp:cNvPr id="0" name=""/>
        <dsp:cNvSpPr/>
      </dsp:nvSpPr>
      <dsp:spPr>
        <a:xfrm>
          <a:off x="3354952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Incorrect claim marked as unreliable</a:t>
          </a:r>
        </a:p>
      </dsp:txBody>
      <dsp:txXfrm>
        <a:off x="3401750" y="1478440"/>
        <a:ext cx="2422618" cy="1504200"/>
      </dsp:txXfrm>
    </dsp:sp>
    <dsp:sp modelId="{19873B6F-EE46-4B21-A722-3DEAF3BB47F3}">
      <dsp:nvSpPr>
        <dsp:cNvPr id="0" name=""/>
        <dsp:cNvSpPr/>
      </dsp:nvSpPr>
      <dsp:spPr>
        <a:xfrm>
          <a:off x="6150746" y="1166042"/>
          <a:ext cx="2516214" cy="159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89E2D-7D19-4AC7-B11E-ACB1D57DB883}">
      <dsp:nvSpPr>
        <dsp:cNvPr id="0" name=""/>
        <dsp:cNvSpPr/>
      </dsp:nvSpPr>
      <dsp:spPr>
        <a:xfrm>
          <a:off x="6430326" y="1431642"/>
          <a:ext cx="2516214" cy="159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Incorrect claim framed as authoritative</a:t>
          </a:r>
        </a:p>
      </dsp:txBody>
      <dsp:txXfrm>
        <a:off x="6477124" y="1478440"/>
        <a:ext cx="2422618" cy="1504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4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0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54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1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9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4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5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8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5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849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32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984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45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43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5D1B5B-6FD7-4572-A129-52C6614904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1618F-DE70-4A40-87B7-3D901B8AA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64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DE35-7C25-BEB7-0020-3F57F2F64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Language Models Handle Misinformation</a:t>
            </a:r>
            <a:br>
              <a:rPr lang="en-US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31D56-48B7-691B-D6CB-D459D6166D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br>
              <a:rPr lang="en-US"/>
            </a:br>
            <a:r>
              <a:rPr lang="en-US"/>
              <a:t>Arash Khosropour</a:t>
            </a: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1600"/>
              <a:t>Natural Language Processing</a:t>
            </a:r>
            <a:br>
              <a:rPr lang="en-US" sz="1600"/>
            </a:br>
            <a:r>
              <a:rPr lang="en-US" sz="1600"/>
              <a:t>Spring 2026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5985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EB5D0-BB13-5CE3-0701-C52DA280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Problem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39C33-2410-04FA-A089-0AABDB292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US" dirty="0"/>
              <a:t>LLMs are used in real-world decision making</a:t>
            </a:r>
          </a:p>
          <a:p>
            <a:r>
              <a:rPr lang="en-US" dirty="0"/>
              <a:t>Inputs are often incomplete or misleading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issue:</a:t>
            </a:r>
          </a:p>
          <a:p>
            <a:r>
              <a:rPr lang="en-US" dirty="0"/>
              <a:t>Models may accept false assumptions</a:t>
            </a:r>
          </a:p>
          <a:p>
            <a:r>
              <a:rPr lang="en-US" dirty="0"/>
              <a:t>Can be influenced by authoritative phrasing</a:t>
            </a:r>
          </a:p>
        </p:txBody>
      </p:sp>
    </p:spTree>
    <p:extLst>
      <p:ext uri="{BB962C8B-B14F-4D97-AF65-F5344CB8AC3E}">
        <p14:creationId xmlns:p14="http://schemas.microsoft.com/office/powerpoint/2010/main" val="342148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8AA71-A00C-AA1A-68C3-53413DA6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Research Questions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104BC2D-F2DB-7B8A-A2CF-2368C64FA6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318492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361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98AB6-BEF7-4F9D-5AEE-125E5826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390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3D60E-8617-D6F6-21E3-10AE7A1B3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Dataset:</a:t>
            </a:r>
          </a:p>
          <a:p>
            <a:r>
              <a:rPr lang="en-US" dirty="0"/>
              <a:t> </a:t>
            </a:r>
            <a:r>
              <a:rPr lang="en-US" dirty="0" err="1"/>
              <a:t>TruthfulQA</a:t>
            </a:r>
            <a:r>
              <a:rPr lang="en-US" dirty="0"/>
              <a:t> (50 questions)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Models:</a:t>
            </a:r>
          </a:p>
          <a:p>
            <a:r>
              <a:rPr lang="en-US" dirty="0"/>
              <a:t>claude-haiku-4-5</a:t>
            </a:r>
          </a:p>
          <a:p>
            <a:r>
              <a:rPr lang="en-US" dirty="0"/>
              <a:t>Qwen-2.5-7B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Evaluation:</a:t>
            </a:r>
          </a:p>
          <a:p>
            <a:r>
              <a:rPr lang="en-US" dirty="0"/>
              <a:t>First answer and verified answer</a:t>
            </a:r>
          </a:p>
          <a:p>
            <a:r>
              <a:rPr lang="en-US" dirty="0"/>
              <a:t>3 prompting conditions</a:t>
            </a:r>
          </a:p>
        </p:txBody>
      </p:sp>
    </p:spTree>
    <p:extLst>
      <p:ext uri="{BB962C8B-B14F-4D97-AF65-F5344CB8AC3E}">
        <p14:creationId xmlns:p14="http://schemas.microsoft.com/office/powerpoint/2010/main" val="3400126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9CA0-AABE-B72D-02FD-00E8C79B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Prompt Conditions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CB2035-C8E1-6A59-4350-BCB375EBF2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03312" y="2052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283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6D21B-F785-99F5-0BDD-81B8ABE98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Prompting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21E9-9D11-06F5-F304-B4736A826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6269434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Q: Is X true?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Noisy:</a:t>
            </a:r>
          </a:p>
          <a:p>
            <a:r>
              <a:rPr lang="en-US" dirty="0"/>
              <a:t>"Some sources claim X (but this may be wrong)"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Adversarial:</a:t>
            </a:r>
          </a:p>
          <a:p>
            <a:r>
              <a:rPr lang="en-US" dirty="0"/>
              <a:t>"Many experts say X"</a:t>
            </a:r>
          </a:p>
        </p:txBody>
      </p:sp>
    </p:spTree>
    <p:extLst>
      <p:ext uri="{BB962C8B-B14F-4D97-AF65-F5344CB8AC3E}">
        <p14:creationId xmlns:p14="http://schemas.microsoft.com/office/powerpoint/2010/main" val="2184562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3308-13B1-C552-1B96-2BA6A50B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Accuracy 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C975A20-BC53-3B7E-4D03-99A64204D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729" y="2052638"/>
            <a:ext cx="5908318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5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C56B-8203-C092-7A49-5D77DB5F1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Self-Verification Effects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C8E1-8E62-5026-DF64-75E5D0961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5463" y="1625723"/>
            <a:ext cx="4418337" cy="451038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+ Fixes mistakes</a:t>
            </a:r>
          </a:p>
          <a:p>
            <a:pPr marL="0" indent="0">
              <a:buNone/>
            </a:pPr>
            <a:r>
              <a:rPr lang="en-US"/>
              <a:t>- Can introduce new errors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276029-D7FB-9AA2-EE9F-1CC54D8C2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63" y="1336947"/>
            <a:ext cx="6097263" cy="5063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028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077DD-0E30-4F53-B47B-DCAB3140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Hallucination Results</a:t>
            </a: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4C13D-FA08-8F5D-F10B-A949CFA31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92" y="1203764"/>
            <a:ext cx="6275584" cy="445566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91188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F307-AB11-E68B-70BB-B70F275B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Category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23305-312A-FFD0-BD4B-1272DE28D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8716" y="1825625"/>
            <a:ext cx="256508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Easy: Language, logic</a:t>
            </a:r>
          </a:p>
          <a:p>
            <a:pPr marL="0" indent="0">
              <a:buNone/>
            </a:pPr>
            <a:r>
              <a:rPr lang="en-US" dirty="0"/>
              <a:t>Hard: Advertising, superstitions, economics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90306-E3C5-E7E7-6625-A1D3AA4D23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91" y="1366026"/>
            <a:ext cx="7575574" cy="52075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255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0540-E217-8D71-D598-D8128DEF1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DF4EF-4153-E408-A444-CCC86AFC6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Adversarial framing can improve reasoning because it introduces a conflict that triggers more cautious and deliberate reasoning.</a:t>
            </a:r>
          </a:p>
          <a:p>
            <a:r>
              <a:rPr lang="en-US" dirty="0"/>
              <a:t>Self-verification can be helpful but not always stable specially on strong reasoning models like Claude, smaller reasoning models benefit from it more.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96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335</TotalTime>
  <Words>209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How Language Models Handle Misinformation </vt:lpstr>
      <vt:lpstr>Problem &amp; Motivation</vt:lpstr>
      <vt:lpstr>Research Questions</vt:lpstr>
      <vt:lpstr>Experimental Setup</vt:lpstr>
      <vt:lpstr>Prompt Conditions</vt:lpstr>
      <vt:lpstr>Prompting Example</vt:lpstr>
      <vt:lpstr>Accuracy Results</vt:lpstr>
      <vt:lpstr>Self-Verification Effects</vt:lpstr>
      <vt:lpstr>Hallucination Results</vt:lpstr>
      <vt:lpstr>Category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Arash Khosropour</dc:creator>
  <cp:lastModifiedBy>Arash Khosropour</cp:lastModifiedBy>
  <cp:revision>10</cp:revision>
  <dcterms:created xsi:type="dcterms:W3CDTF">2026-03-26T12:35:18Z</dcterms:created>
  <dcterms:modified xsi:type="dcterms:W3CDTF">2026-03-27T11:18:17Z</dcterms:modified>
</cp:coreProperties>
</file>